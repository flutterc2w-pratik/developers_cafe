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735D4E-DA1C-4A17-9AF8-3B2D5C6CBA7C}" v="1" dt="2026-08-31T16:04:18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kade, Pratik R." userId="14c8c4fe-ba2a-4dc5-bb4b-90f5bcddc755" providerId="ADAL" clId="{2132BA77-4E5F-43BB-A8B6-E071A848B931}"/>
    <pc:docChg chg="custSel modSld">
      <pc:chgData name="Rokade, Pratik R." userId="14c8c4fe-ba2a-4dc5-bb4b-90f5bcddc755" providerId="ADAL" clId="{2132BA77-4E5F-43BB-A8B6-E071A848B931}" dt="2026-08-31T19:18:54.868" v="533" actId="1076"/>
      <pc:docMkLst>
        <pc:docMk/>
      </pc:docMkLst>
      <pc:sldChg chg="addSp delSp modSp mod">
        <pc:chgData name="Rokade, Pratik R." userId="14c8c4fe-ba2a-4dc5-bb4b-90f5bcddc755" providerId="ADAL" clId="{2132BA77-4E5F-43BB-A8B6-E071A848B931}" dt="2026-08-31T19:15:06.875" v="532" actId="1076"/>
        <pc:sldMkLst>
          <pc:docMk/>
          <pc:sldMk cId="0" sldId="256"/>
        </pc:sldMkLst>
        <pc:spChg chg="add mod">
          <ac:chgData name="Rokade, Pratik R." userId="14c8c4fe-ba2a-4dc5-bb4b-90f5bcddc755" providerId="ADAL" clId="{2132BA77-4E5F-43BB-A8B6-E071A848B931}" dt="2026-08-31T19:12:35.042" v="526" actId="20577"/>
          <ac:spMkLst>
            <pc:docMk/>
            <pc:sldMk cId="0" sldId="256"/>
            <ac:spMk id="20" creationId="{5B4E50B3-2E25-EDC9-BE53-400C999964C5}"/>
          </ac:spMkLst>
        </pc:spChg>
        <pc:picChg chg="mod">
          <ac:chgData name="Rokade, Pratik R." userId="14c8c4fe-ba2a-4dc5-bb4b-90f5bcddc755" providerId="ADAL" clId="{2132BA77-4E5F-43BB-A8B6-E071A848B931}" dt="2026-08-31T19:15:06.875" v="532" actId="1076"/>
          <ac:picMkLst>
            <pc:docMk/>
            <pc:sldMk cId="0" sldId="256"/>
            <ac:picMk id="6" creationId="{00000000-0000-0000-0000-000000000000}"/>
          </ac:picMkLst>
        </pc:picChg>
        <pc:picChg chg="del">
          <ac:chgData name="Rokade, Pratik R." userId="14c8c4fe-ba2a-4dc5-bb4b-90f5bcddc755" providerId="ADAL" clId="{2132BA77-4E5F-43BB-A8B6-E071A848B931}" dt="2026-08-31T19:11:11.356" v="426" actId="478"/>
          <ac:picMkLst>
            <pc:docMk/>
            <pc:sldMk cId="0" sldId="256"/>
            <ac:picMk id="19" creationId="{0DDE734F-D6E4-AC52-2B12-2015A2A3D601}"/>
          </ac:picMkLst>
        </pc:picChg>
      </pc:sldChg>
      <pc:sldChg chg="modSp mod">
        <pc:chgData name="Rokade, Pratik R." userId="14c8c4fe-ba2a-4dc5-bb4b-90f5bcddc755" providerId="ADAL" clId="{2132BA77-4E5F-43BB-A8B6-E071A848B931}" dt="2026-08-31T19:13:07.886" v="527" actId="255"/>
        <pc:sldMkLst>
          <pc:docMk/>
          <pc:sldMk cId="0" sldId="257"/>
        </pc:sldMkLst>
        <pc:spChg chg="mod">
          <ac:chgData name="Rokade, Pratik R." userId="14c8c4fe-ba2a-4dc5-bb4b-90f5bcddc755" providerId="ADAL" clId="{2132BA77-4E5F-43BB-A8B6-E071A848B931}" dt="2026-08-31T19:13:07.886" v="527" actId="255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Rokade, Pratik R." userId="14c8c4fe-ba2a-4dc5-bb4b-90f5bcddc755" providerId="ADAL" clId="{2132BA77-4E5F-43BB-A8B6-E071A848B931}" dt="2026-08-31T19:10:10.465" v="425" actId="1036"/>
        <pc:sldMkLst>
          <pc:docMk/>
          <pc:sldMk cId="0" sldId="258"/>
        </pc:sldMkLst>
        <pc:spChg chg="mod">
          <ac:chgData name="Rokade, Pratik R." userId="14c8c4fe-ba2a-4dc5-bb4b-90f5bcddc755" providerId="ADAL" clId="{2132BA77-4E5F-43BB-A8B6-E071A848B931}" dt="2026-08-31T19:05:17.832" v="0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5:17.832" v="0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6:13.046" v="69" actId="103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6:20.435" v="75" actId="103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5:54.367" v="30" actId="103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9:41.871" v="361" actId="103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7:33.538" v="196" actId="103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7:21.211" v="170" actId="103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8:53.803" v="324" actId="1035"/>
          <ac:spMkLst>
            <pc:docMk/>
            <pc:sldMk cId="0" sldId="258"/>
            <ac:spMk id="24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8:57.995" v="330" actId="1035"/>
          <ac:spMkLst>
            <pc:docMk/>
            <pc:sldMk cId="0" sldId="258"/>
            <ac:spMk id="25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7:53.182" v="230" actId="103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6:57.935" v="144" actId="103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6:49.248" v="124" actId="103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6:31.201" v="103" actId="1035"/>
          <ac:spMkLst>
            <pc:docMk/>
            <pc:sldMk cId="0" sldId="258"/>
            <ac:spMk id="29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10:10.465" v="425" actId="103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10:01.726" v="407" actId="103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9:53.293" v="384" actId="103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9:17.523" v="350" actId="1035"/>
          <ac:spMkLst>
            <pc:docMk/>
            <pc:sldMk cId="0" sldId="258"/>
            <ac:spMk id="33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9:26.536" v="354" actId="1038"/>
          <ac:spMkLst>
            <pc:docMk/>
            <pc:sldMk cId="0" sldId="258"/>
            <ac:spMk id="34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8:20.162" v="289" actId="1036"/>
          <ac:spMkLst>
            <pc:docMk/>
            <pc:sldMk cId="0" sldId="258"/>
            <ac:spMk id="35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9:05:25.350" v="1" actId="255"/>
          <ac:spMkLst>
            <pc:docMk/>
            <pc:sldMk cId="0" sldId="258"/>
            <ac:spMk id="36" creationId="{00000000-0000-0000-0000-000000000000}"/>
          </ac:spMkLst>
        </pc:spChg>
        <pc:picChg chg="mod">
          <ac:chgData name="Rokade, Pratik R." userId="14c8c4fe-ba2a-4dc5-bb4b-90f5bcddc755" providerId="ADAL" clId="{2132BA77-4E5F-43BB-A8B6-E071A848B931}" dt="2026-08-31T19:05:36.953" v="2" actId="1076"/>
          <ac:picMkLst>
            <pc:docMk/>
            <pc:sldMk cId="0" sldId="258"/>
            <ac:picMk id="2" creationId="{00000000-0000-0000-0000-000000000000}"/>
          </ac:picMkLst>
        </pc:picChg>
        <pc:picChg chg="mod">
          <ac:chgData name="Rokade, Pratik R." userId="14c8c4fe-ba2a-4dc5-bb4b-90f5bcddc755" providerId="ADAL" clId="{2132BA77-4E5F-43BB-A8B6-E071A848B931}" dt="2026-08-31T19:05:41.436" v="3" actId="14100"/>
          <ac:picMkLst>
            <pc:docMk/>
            <pc:sldMk cId="0" sldId="258"/>
            <ac:picMk id="3" creationId="{00000000-0000-0000-0000-000000000000}"/>
          </ac:picMkLst>
        </pc:picChg>
        <pc:picChg chg="mod">
          <ac:chgData name="Rokade, Pratik R." userId="14c8c4fe-ba2a-4dc5-bb4b-90f5bcddc755" providerId="ADAL" clId="{2132BA77-4E5F-43BB-A8B6-E071A848B931}" dt="2026-08-31T19:07:06.022" v="145" actId="14100"/>
          <ac:picMkLst>
            <pc:docMk/>
            <pc:sldMk cId="0" sldId="258"/>
            <ac:picMk id="4" creationId="{00000000-0000-0000-0000-000000000000}"/>
          </ac:picMkLst>
        </pc:picChg>
        <pc:picChg chg="mod">
          <ac:chgData name="Rokade, Pratik R." userId="14c8c4fe-ba2a-4dc5-bb4b-90f5bcddc755" providerId="ADAL" clId="{2132BA77-4E5F-43BB-A8B6-E071A848B931}" dt="2026-08-31T19:07:10.749" v="146" actId="14100"/>
          <ac:picMkLst>
            <pc:docMk/>
            <pc:sldMk cId="0" sldId="258"/>
            <ac:picMk id="5" creationId="{00000000-0000-0000-0000-000000000000}"/>
          </ac:picMkLst>
        </pc:picChg>
      </pc:sldChg>
      <pc:sldChg chg="modSp mod">
        <pc:chgData name="Rokade, Pratik R." userId="14c8c4fe-ba2a-4dc5-bb4b-90f5bcddc755" providerId="ADAL" clId="{2132BA77-4E5F-43BB-A8B6-E071A848B931}" dt="2026-08-31T19:13:27.729" v="529" actId="14100"/>
        <pc:sldMkLst>
          <pc:docMk/>
          <pc:sldMk cId="0" sldId="260"/>
        </pc:sldMkLst>
        <pc:picChg chg="mod">
          <ac:chgData name="Rokade, Pratik R." userId="14c8c4fe-ba2a-4dc5-bb4b-90f5bcddc755" providerId="ADAL" clId="{2132BA77-4E5F-43BB-A8B6-E071A848B931}" dt="2026-08-31T19:13:24.184" v="528" actId="14100"/>
          <ac:picMkLst>
            <pc:docMk/>
            <pc:sldMk cId="0" sldId="260"/>
            <ac:picMk id="3" creationId="{00000000-0000-0000-0000-000000000000}"/>
          </ac:picMkLst>
        </pc:picChg>
        <pc:picChg chg="mod">
          <ac:chgData name="Rokade, Pratik R." userId="14c8c4fe-ba2a-4dc5-bb4b-90f5bcddc755" providerId="ADAL" clId="{2132BA77-4E5F-43BB-A8B6-E071A848B931}" dt="2026-08-31T19:13:27.729" v="529" actId="14100"/>
          <ac:picMkLst>
            <pc:docMk/>
            <pc:sldMk cId="0" sldId="260"/>
            <ac:picMk id="4" creationId="{00000000-0000-0000-0000-000000000000}"/>
          </ac:picMkLst>
        </pc:picChg>
      </pc:sldChg>
      <pc:sldChg chg="modSp mod">
        <pc:chgData name="Rokade, Pratik R." userId="14c8c4fe-ba2a-4dc5-bb4b-90f5bcddc755" providerId="ADAL" clId="{2132BA77-4E5F-43BB-A8B6-E071A848B931}" dt="2026-08-31T19:13:53.296" v="531" actId="20577"/>
        <pc:sldMkLst>
          <pc:docMk/>
          <pc:sldMk cId="0" sldId="263"/>
        </pc:sldMkLst>
        <pc:spChg chg="mod">
          <ac:chgData name="Rokade, Pratik R." userId="14c8c4fe-ba2a-4dc5-bb4b-90f5bcddc755" providerId="ADAL" clId="{2132BA77-4E5F-43BB-A8B6-E071A848B931}" dt="2026-08-31T19:13:53.296" v="531" actId="20577"/>
          <ac:spMkLst>
            <pc:docMk/>
            <pc:sldMk cId="0" sldId="263"/>
            <ac:spMk id="19" creationId="{00000000-0000-0000-0000-000000000000}"/>
          </ac:spMkLst>
        </pc:spChg>
      </pc:sldChg>
      <pc:sldChg chg="modSp mod">
        <pc:chgData name="Rokade, Pratik R." userId="14c8c4fe-ba2a-4dc5-bb4b-90f5bcddc755" providerId="ADAL" clId="{2132BA77-4E5F-43BB-A8B6-E071A848B931}" dt="2026-08-31T19:18:54.868" v="533" actId="1076"/>
        <pc:sldMkLst>
          <pc:docMk/>
          <pc:sldMk cId="0" sldId="264"/>
        </pc:sldMkLst>
        <pc:picChg chg="mod">
          <ac:chgData name="Rokade, Pratik R." userId="14c8c4fe-ba2a-4dc5-bb4b-90f5bcddc755" providerId="ADAL" clId="{2132BA77-4E5F-43BB-A8B6-E071A848B931}" dt="2026-08-31T19:18:54.868" v="533" actId="1076"/>
          <ac:picMkLst>
            <pc:docMk/>
            <pc:sldMk cId="0" sldId="264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DD20B-0FB0-432E-8325-7A1B3802B0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0BF83-3D4E-4F5C-8AFB-A31AF11B3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77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0BF83-3D4E-4F5C-8AFB-A31AF11B3B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98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0BF83-3D4E-4F5C-8AFB-A31AF11B3B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65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168" y="923213"/>
            <a:ext cx="4871467" cy="51703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71" y="4288041"/>
            <a:ext cx="1391719" cy="38552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8803" y="4285396"/>
            <a:ext cx="1702731" cy="38552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796" y="4336107"/>
            <a:ext cx="14954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1223" y="4319318"/>
            <a:ext cx="1081089" cy="38552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3922" y="4348727"/>
            <a:ext cx="104775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5999" y="4309393"/>
            <a:ext cx="1279097" cy="3713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31563" y="1740907"/>
            <a:ext cx="8585972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 dirty="0">
                <a:solidFill>
                  <a:srgbClr val="FFFFFF"/>
                </a:solidFill>
                <a:latin typeface="Space Grotesk"/>
              </a:rPr>
              <a:t>Retail Dynamics – </a:t>
            </a:r>
            <a:r>
              <a:rPr sz="4350" b="1" i="0" u="none" dirty="0">
                <a:solidFill>
                  <a:srgbClr val="CBD5E1"/>
                </a:solidFill>
                <a:latin typeface="Space Grotesk"/>
              </a:rPr>
              <a:t>Exploring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1687" y="2922683"/>
            <a:ext cx="80962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i="0" u="none" dirty="0">
                <a:solidFill>
                  <a:srgbClr val="94A3B8"/>
                </a:solidFill>
                <a:latin typeface="Plus Jakarta Sans"/>
              </a:rPr>
              <a:t>An end-to-end analytical workflow turning raw retail data into governed Ontology models, deep investigative analytics, and executive business applications.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899" y="4393257"/>
            <a:ext cx="161926" cy="18891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1416" y="4376924"/>
            <a:ext cx="295957" cy="23018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6946" y="4400282"/>
            <a:ext cx="214550" cy="214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1685" y="4399449"/>
            <a:ext cx="241458" cy="24145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5116" y="4409776"/>
            <a:ext cx="220803" cy="220803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09546" y="4398696"/>
            <a:ext cx="223878" cy="19589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B4E50B3-2E25-EDC9-BE53-400C999964C5}"/>
              </a:ext>
            </a:extLst>
          </p:cNvPr>
          <p:cNvSpPr txBox="1"/>
          <p:nvPr/>
        </p:nvSpPr>
        <p:spPr>
          <a:xfrm>
            <a:off x="7983922" y="5749644"/>
            <a:ext cx="6204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Space Grotesk"/>
              </a:rPr>
              <a:t>By - Pratik Rokade</a:t>
            </a:r>
          </a:p>
          <a:p>
            <a:pPr algn="l"/>
            <a:r>
              <a:rPr lang="en-US" sz="1800" b="1" i="0" u="none" dirty="0">
                <a:solidFill>
                  <a:srgbClr val="FFFFFF"/>
                </a:solidFill>
                <a:latin typeface="Space Grotesk"/>
              </a:rPr>
              <a:t>Ent. Id – pratik.r.Rokade@accenture.com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19375"/>
            <a:ext cx="5324475" cy="981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752850"/>
            <a:ext cx="5324475" cy="981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886324"/>
            <a:ext cx="5324475" cy="981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559069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8FAFC"/>
                </a:solidFill>
                <a:latin typeface="Space Grotesk"/>
              </a:rPr>
              <a:t>Case Study </a:t>
            </a:r>
            <a:r>
              <a:rPr sz="2400" b="1" i="0" u="none" dirty="0">
                <a:solidFill>
                  <a:srgbClr val="38BDF8"/>
                </a:solidFill>
                <a:latin typeface="Space Grotesk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705570"/>
            <a:ext cx="5370671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CBD5E1"/>
                </a:solidFill>
                <a:latin typeface="Plus Jakarta Sans"/>
              </a:rPr>
              <a:t>Primary Objective: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Build a governed sales analytics pipeline to explore store performance and deliver actionable retail decision intelligence.</a:t>
            </a:r>
            <a:endParaRPr lang="en-US" sz="1600" b="0" i="0" u="none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1800"/>
              </a:lnSpc>
            </a:pPr>
            <a:endParaRPr sz="1600" b="0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050" y="2781300"/>
            <a:ext cx="5170646" cy="246221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38BDF8"/>
                </a:solidFill>
                <a:latin typeface="Space Grotesk"/>
              </a:rPr>
              <a:t>Analytical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038475"/>
            <a:ext cx="4924425" cy="413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0" i="0" u="none">
                <a:solidFill>
                  <a:srgbClr val="94A3B8"/>
                </a:solidFill>
                <a:latin typeface="Plus Jakarta Sans"/>
              </a:rPr>
              <a:t>Powered by Stores, Features, and Sales datasets structured for high-performance downstream querying.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914775"/>
            <a:ext cx="5170646" cy="246221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38BDF8"/>
                </a:solidFill>
                <a:latin typeface="Space Grotesk"/>
              </a:rPr>
              <a:t>Exploration &amp;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4171950"/>
            <a:ext cx="4924425" cy="413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0" i="0" u="none">
                <a:solidFill>
                  <a:srgbClr val="94A3B8"/>
                </a:solidFill>
                <a:latin typeface="Plus Jakarta Sans"/>
              </a:rPr>
              <a:t>Quiver for multi-dimensional deep dives and Contour for interactive time-series dashboards.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5048250"/>
            <a:ext cx="5170646" cy="246221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38BDF8"/>
                </a:solidFill>
                <a:latin typeface="Space Grotesk"/>
              </a:rPr>
              <a:t>Final Business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5305425"/>
            <a:ext cx="4924425" cy="413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0" i="0" u="none">
                <a:solidFill>
                  <a:srgbClr val="94A3B8"/>
                </a:solidFill>
                <a:latin typeface="Plus Jakarta Sans"/>
              </a:rPr>
              <a:t>A unified Foundry Workshop web app for operational decision makers.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800350"/>
            <a:ext cx="1714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3933825"/>
            <a:ext cx="1714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5067300"/>
            <a:ext cx="152400" cy="152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617B7F-E8E7-8840-8F41-EE56F5450D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060" y="2386012"/>
            <a:ext cx="5206840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528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93131"/>
            <a:ext cx="3524250" cy="37722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193130"/>
            <a:ext cx="3524250" cy="377223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193131"/>
            <a:ext cx="3524250" cy="37722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469356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155156"/>
            <a:ext cx="3200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FFFFFF"/>
                </a:solidFill>
                <a:latin typeface="Space Grotesk"/>
              </a:rPr>
              <a:t>Sales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517106"/>
            <a:ext cx="3048000" cy="878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 dirty="0">
                <a:solidFill>
                  <a:srgbClr val="94A3B8"/>
                </a:solidFill>
                <a:latin typeface="Plus Jakarta Sans"/>
              </a:rPr>
              <a:t>Primary fact table containing granular historical retail transactions across store departments.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469356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155156"/>
            <a:ext cx="3200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FFFFF"/>
                </a:solidFill>
                <a:latin typeface="Space Grotesk"/>
              </a:rPr>
              <a:t>Stores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17106"/>
            <a:ext cx="3048000" cy="660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>
                <a:solidFill>
                  <a:srgbClr val="94A3B8"/>
                </a:solidFill>
                <a:latin typeface="Plus Jakarta Sans"/>
              </a:rPr>
              <a:t>Store-level dimension table providing operational attributes and categorization.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2469356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4850" y="3155156"/>
            <a:ext cx="3200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FFFFFF"/>
                </a:solidFill>
                <a:latin typeface="Space Grotesk"/>
              </a:rPr>
              <a:t>Features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850" y="3517106"/>
            <a:ext cx="3048000" cy="660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>
                <a:solidFill>
                  <a:srgbClr val="94A3B8"/>
                </a:solidFill>
                <a:latin typeface="Plus Jakarta Sans"/>
              </a:rPr>
              <a:t>Contextual dataset supplying external economic and environmental market drivers.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602706"/>
            <a:ext cx="1714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0600" y="4579144"/>
            <a:ext cx="2876550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Weekly sales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888023"/>
            <a:ext cx="2876550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Store ID &amp; Department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5186025"/>
            <a:ext cx="2876550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Date &amp; holiday indicators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6775" y="2602706"/>
            <a:ext cx="28575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43450" y="4397488"/>
            <a:ext cx="2876550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Store identification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3450" y="4760802"/>
            <a:ext cx="2876550" cy="419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Store type classifications (A, B, 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3450" y="5265625"/>
            <a:ext cx="2876550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Store physical size metrics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9625" y="2602706"/>
            <a:ext cx="28575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96300" y="4430142"/>
            <a:ext cx="2876550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Regional temperature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6300" y="4760801"/>
            <a:ext cx="2876550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Fuel price fluctuations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6300" y="5134997"/>
            <a:ext cx="2876550" cy="419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Promotional markdowns (1 to 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4568260"/>
            <a:ext cx="95250" cy="19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i="0" u="none" dirty="0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" y="4909799"/>
            <a:ext cx="95250" cy="19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i="0" u="none" dirty="0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" y="5196908"/>
            <a:ext cx="95250" cy="19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i="0" u="none" dirty="0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386604"/>
            <a:ext cx="95250" cy="19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i="0" u="none" dirty="0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749916"/>
            <a:ext cx="95250" cy="19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i="0" u="none" dirty="0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243855"/>
            <a:ext cx="95250" cy="19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i="0" u="none" dirty="0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6275" y="4785924"/>
            <a:ext cx="95250" cy="19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i="0" u="none" dirty="0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3078" y="4456000"/>
            <a:ext cx="95250" cy="19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i="0" u="none" dirty="0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4850" y="5145883"/>
            <a:ext cx="95250" cy="19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i="0" u="none" dirty="0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025" y="485775"/>
            <a:ext cx="1158144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F8FAFC"/>
                </a:solidFill>
                <a:latin typeface="Space Grotesk"/>
              </a:rPr>
              <a:t>1. Data Ingestion &amp; </a:t>
            </a:r>
            <a:r>
              <a:rPr sz="2800" b="1" i="0" u="none" dirty="0">
                <a:solidFill>
                  <a:srgbClr val="38BDF8"/>
                </a:solidFill>
                <a:latin typeface="Space Grotesk"/>
              </a:rPr>
              <a:t>Preparation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462" y="5436808"/>
            <a:ext cx="11029950" cy="449226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2000" b="0" i="0" u="none" dirty="0">
                <a:solidFill>
                  <a:srgbClr val="94A3B8"/>
                </a:solidFill>
                <a:latin typeface="Plus Jakarta Sans"/>
              </a:rPr>
              <a:t>All pipelines established standardized data types, removed unwanted artifacts, and ensured reliable lineage before semantic publication.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096153"/>
              </p:ext>
            </p:extLst>
          </p:nvPr>
        </p:nvGraphicFramePr>
        <p:xfrm>
          <a:off x="581025" y="2255043"/>
          <a:ext cx="11020423" cy="261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1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7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2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843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Source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Transformation Stage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Cleansed 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Target Ontology Object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3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Sales</a:t>
                      </a:r>
                      <a:r>
                        <a:rPr sz="16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(Raw)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Data profiling, type alignment, null checks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Sales_cleansed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CleansedSales_Obj_CS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3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Stores</a:t>
                      </a:r>
                      <a:r>
                        <a:rPr sz="16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(Raw)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Attribute validation, deduplication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Stores_cleansed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CleansedStores_Obj_CS</a:t>
                      </a:r>
                      <a:endParaRPr sz="1600" b="1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6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Features</a:t>
                      </a:r>
                      <a:r>
                        <a:rPr sz="16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(Raw)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Missing value imputation, column cleanup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Features_cleansed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CleansedFeature_Obj_CS</a:t>
                      </a:r>
                      <a:endParaRPr sz="1600" b="1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" y="5445919"/>
            <a:ext cx="142875" cy="142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5787" y="2831306"/>
            <a:ext cx="198908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2574875" y="2831306"/>
            <a:ext cx="370105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6275933" y="2831306"/>
            <a:ext cx="2487662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8763595" y="2831306"/>
            <a:ext cx="284261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585787" y="3507581"/>
            <a:ext cx="198908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2574875" y="3507581"/>
            <a:ext cx="370105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ectangle 11"/>
          <p:cNvSpPr/>
          <p:nvPr/>
        </p:nvSpPr>
        <p:spPr>
          <a:xfrm>
            <a:off x="6275933" y="3507581"/>
            <a:ext cx="2487662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8763595" y="3507581"/>
            <a:ext cx="284261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585787" y="4183856"/>
            <a:ext cx="198908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2574875" y="4183856"/>
            <a:ext cx="370105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5"/>
          <p:cNvSpPr/>
          <p:nvPr/>
        </p:nvSpPr>
        <p:spPr>
          <a:xfrm>
            <a:off x="6275933" y="4183856"/>
            <a:ext cx="2487662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8763595" y="4183856"/>
            <a:ext cx="284261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933" y="3017043"/>
            <a:ext cx="1489918" cy="3238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5933" y="3709987"/>
            <a:ext cx="1581447" cy="3238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5932" y="4369593"/>
            <a:ext cx="1764357" cy="3238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1025" y="485775"/>
            <a:ext cx="1158144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F8FAFC"/>
                </a:solidFill>
                <a:latin typeface="Space Grotesk"/>
              </a:rPr>
              <a:t>2. Pipeline Creation &amp; </a:t>
            </a:r>
            <a:r>
              <a:rPr sz="2800" b="1" i="0" u="none" dirty="0">
                <a:solidFill>
                  <a:srgbClr val="38BDF8"/>
                </a:solidFill>
                <a:latin typeface="Space Grotesk"/>
              </a:rPr>
              <a:t>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4" y="1643743"/>
            <a:ext cx="5324475" cy="440871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43743"/>
            <a:ext cx="5324475" cy="44087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50" y="1949810"/>
            <a:ext cx="453056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 dirty="0">
                <a:solidFill>
                  <a:srgbClr val="38BDF8"/>
                </a:solidFill>
                <a:latin typeface="Space Grotesk"/>
              </a:rPr>
              <a:t>Semantic Object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2017" y="2674479"/>
            <a:ext cx="4695825" cy="464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i="0" u="none" dirty="0">
                <a:solidFill>
                  <a:srgbClr val="CBD5E1"/>
                </a:solidFill>
                <a:latin typeface="Plus Jakarta Sans"/>
              </a:rPr>
              <a:t>Transforming Raw Data into Real-World Concepts: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117163"/>
            <a:ext cx="4695825" cy="926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US" b="0" i="0" u="none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 dirty="0">
                <a:solidFill>
                  <a:srgbClr val="CBD5E1"/>
                </a:solidFill>
                <a:latin typeface="Plus Jakarta Sans"/>
              </a:rPr>
              <a:t>Cleansed Sales Object:</a:t>
            </a:r>
            <a:r>
              <a:rPr b="0" i="0" u="none" dirty="0">
                <a:solidFill>
                  <a:srgbClr val="CBD5E1"/>
                </a:solidFill>
                <a:latin typeface="Plus Jakarta Sans"/>
              </a:rPr>
              <a:t> Captures transactional performance with Store ID, Date, Department, and Weekly Sales.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952875"/>
            <a:ext cx="4810125" cy="926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US" b="0" i="0" u="none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 dirty="0">
                <a:solidFill>
                  <a:srgbClr val="CBD5E1"/>
                </a:solidFill>
                <a:latin typeface="Plus Jakarta Sans"/>
              </a:rPr>
              <a:t>Cleansed Stores Object:</a:t>
            </a:r>
            <a:r>
              <a:rPr b="0" i="0" u="none" dirty="0">
                <a:solidFill>
                  <a:srgbClr val="CBD5E1"/>
                </a:solidFill>
                <a:latin typeface="Plus Jakarta Sans"/>
              </a:rPr>
              <a:t> Enriches sales metrics with store type and capacity parameters for group comparisons.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948048"/>
            <a:ext cx="4695825" cy="695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 dirty="0">
                <a:solidFill>
                  <a:srgbClr val="CBD5E1"/>
                </a:solidFill>
                <a:latin typeface="Plus Jakarta Sans"/>
              </a:rPr>
              <a:t>Cleansed Features Object:</a:t>
            </a:r>
            <a:r>
              <a:rPr b="0" i="0" u="none" dirty="0">
                <a:solidFill>
                  <a:srgbClr val="CBD5E1"/>
                </a:solidFill>
                <a:latin typeface="Plus Jakarta Sans"/>
              </a:rPr>
              <a:t> Integrates macroeconomic variables like temperature, CPI, and fuel pricing.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1825" y="1922177"/>
            <a:ext cx="453056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 dirty="0">
                <a:solidFill>
                  <a:srgbClr val="38BDF8"/>
                </a:solidFill>
                <a:latin typeface="Space Grotesk"/>
              </a:rPr>
              <a:t>Relational Linking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2678743"/>
            <a:ext cx="4695825" cy="234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i="0" u="none" dirty="0">
                <a:solidFill>
                  <a:srgbClr val="CBD5E1"/>
                </a:solidFill>
                <a:latin typeface="Plus Jakarta Sans"/>
              </a:rPr>
              <a:t>Connected Enterprise Intelligence: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087024"/>
            <a:ext cx="4695825" cy="695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>
                <a:solidFill>
                  <a:srgbClr val="CBD5E1"/>
                </a:solidFill>
                <a:latin typeface="Plus Jakarta Sans"/>
              </a:rPr>
              <a:t>Primary Keys &amp; Titles:</a:t>
            </a:r>
            <a:r>
              <a:rPr b="0" i="0" u="none">
                <a:solidFill>
                  <a:srgbClr val="CBD5E1"/>
                </a:solidFill>
                <a:latin typeface="Plus Jakarta Sans"/>
              </a:rPr>
              <a:t> Defined unique identifiers to ensure deterministic object resolution across 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952875"/>
            <a:ext cx="4695825" cy="464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>
                <a:solidFill>
                  <a:srgbClr val="CBD5E1"/>
                </a:solidFill>
                <a:latin typeface="Plus Jakarta Sans"/>
              </a:rPr>
              <a:t>Cross-Object Links:</a:t>
            </a:r>
            <a:r>
              <a:rPr b="0" i="0" u="none">
                <a:solidFill>
                  <a:srgbClr val="CBD5E1"/>
                </a:solidFill>
                <a:latin typeface="Plus Jakarta Sans"/>
              </a:rPr>
              <a:t> Connected Sales to Stores and Features via compound keys (Store ID + Date).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4524375"/>
            <a:ext cx="4695825" cy="926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US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 dirty="0">
                <a:solidFill>
                  <a:srgbClr val="CBD5E1"/>
                </a:solidFill>
                <a:latin typeface="Plus Jakarta Sans"/>
              </a:rPr>
              <a:t>Governed Access:</a:t>
            </a:r>
            <a:r>
              <a:rPr b="0" i="0" u="none" dirty="0">
                <a:solidFill>
                  <a:srgbClr val="CBD5E1"/>
                </a:solidFill>
                <a:latin typeface="Plus Jakarta Sans"/>
              </a:rPr>
              <a:t> Enables analysts to query business entities directly without writing complex SQL joins.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017" y="1970576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1941232"/>
            <a:ext cx="28575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485775"/>
            <a:ext cx="1158144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8FAFC"/>
                </a:solidFill>
                <a:latin typeface="Space Grotesk"/>
              </a:rPr>
              <a:t>3. Ontology &amp; </a:t>
            </a:r>
            <a:r>
              <a:rPr sz="2400" b="1" i="0" u="none" dirty="0">
                <a:solidFill>
                  <a:srgbClr val="38BDF8"/>
                </a:solidFill>
                <a:latin typeface="Space Grotesk"/>
              </a:rPr>
              <a:t>Business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528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730829"/>
            <a:ext cx="2586037" cy="28316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662" y="1730829"/>
            <a:ext cx="2586037" cy="28316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730829"/>
            <a:ext cx="2586037" cy="283164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937" y="1730829"/>
            <a:ext cx="2586037" cy="283164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5014912"/>
            <a:ext cx="1428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0124" y="5015934"/>
            <a:ext cx="10372725" cy="22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i="0" u="none" dirty="0">
                <a:solidFill>
                  <a:srgbClr val="F1F5F9"/>
                </a:solidFill>
                <a:latin typeface="Plus Jakarta Sans"/>
              </a:rPr>
              <a:t>Key Finding:</a:t>
            </a:r>
            <a:r>
              <a:rPr b="0" i="0" u="none" dirty="0">
                <a:solidFill>
                  <a:srgbClr val="F1F5F9"/>
                </a:solidFill>
                <a:latin typeface="Plus Jakarta Sans"/>
              </a:rPr>
              <a:t> Dynamic Quiver Canvas analysis highlighted </a:t>
            </a:r>
            <a:r>
              <a:rPr b="1" i="0" u="none" dirty="0">
                <a:solidFill>
                  <a:srgbClr val="F1F5F9"/>
                </a:solidFill>
                <a:latin typeface="Plus Jakarta Sans"/>
              </a:rPr>
              <a:t>Store </a:t>
            </a:r>
            <a:r>
              <a:rPr lang="en-US" b="1" dirty="0">
                <a:solidFill>
                  <a:srgbClr val="F1F5F9"/>
                </a:solidFill>
                <a:latin typeface="Plus Jakarta Sans"/>
              </a:rPr>
              <a:t>2</a:t>
            </a:r>
            <a:r>
              <a:rPr b="1" i="0" u="none" dirty="0">
                <a:solidFill>
                  <a:srgbClr val="F1F5F9"/>
                </a:solidFill>
                <a:latin typeface="Plus Jakarta Sans"/>
              </a:rPr>
              <a:t>0</a:t>
            </a:r>
            <a:r>
              <a:rPr b="0" i="0" u="none" dirty="0">
                <a:solidFill>
                  <a:srgbClr val="F1F5F9"/>
                </a:solidFill>
                <a:latin typeface="Plus Jakarta Sans"/>
              </a:rPr>
              <a:t> as the consistently highest-performi</a:t>
            </a:r>
            <a:r>
              <a:rPr lang="en-US" b="0" i="0" u="none" dirty="0">
                <a:solidFill>
                  <a:srgbClr val="F1F5F9"/>
                </a:solidFill>
                <a:latin typeface="Plus Jakarta Sans"/>
              </a:rPr>
              <a:t>ng store</a:t>
            </a:r>
            <a:endParaRPr b="0" i="0" u="none" dirty="0">
              <a:solidFill>
                <a:srgbClr val="F1F5F9"/>
              </a:solidFill>
              <a:latin typeface="Plus Jakarta Sa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1815190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" y="2615636"/>
            <a:ext cx="221527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FFFFF"/>
                </a:solidFill>
                <a:latin typeface="Space Grotesk"/>
              </a:rPr>
              <a:t>1. Top 5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134395"/>
            <a:ext cx="2109787" cy="1096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 dirty="0">
                <a:solidFill>
                  <a:srgbClr val="94A3B8"/>
                </a:solidFill>
                <a:latin typeface="Plus Jakarta Sans"/>
              </a:rPr>
              <a:t>Identified stores exhibiting the highest average Weekly Sales across all reporting periods.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3787" y="1868931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33787" y="2588077"/>
            <a:ext cx="221527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FFFFFF"/>
                </a:solidFill>
                <a:latin typeface="Space Grotesk"/>
              </a:rPr>
              <a:t>2. Type vs Fuel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3787" y="3097604"/>
            <a:ext cx="2109787" cy="1096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 dirty="0">
                <a:solidFill>
                  <a:srgbClr val="94A3B8"/>
                </a:solidFill>
                <a:latin typeface="Plus Jakarta Sans"/>
              </a:rPr>
              <a:t>Analyzed relationship between store classification types and regional fuel price variations.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1826078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8425" y="2555419"/>
            <a:ext cx="221527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FFFFF"/>
                </a:solidFill>
                <a:latin typeface="Space Grotesk"/>
              </a:rPr>
              <a:t>3. Holiday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2982685"/>
            <a:ext cx="2109787" cy="1314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 dirty="0">
                <a:solidFill>
                  <a:srgbClr val="94A3B8"/>
                </a:solidFill>
                <a:latin typeface="Plus Jakarta Sans"/>
              </a:rPr>
              <a:t>Evaluated departmental revenue spikes during standard weeks versus designated holiday periods.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3062" y="1861903"/>
            <a:ext cx="495300" cy="495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63062" y="2533648"/>
            <a:ext cx="221527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FFFFF"/>
                </a:solidFill>
                <a:latin typeface="Space Grotesk"/>
              </a:rPr>
              <a:t>4. Temp vs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3062" y="3080654"/>
            <a:ext cx="2109787" cy="1096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 dirty="0">
                <a:solidFill>
                  <a:srgbClr val="94A3B8"/>
                </a:solidFill>
                <a:latin typeface="Plus Jakarta Sans"/>
              </a:rPr>
              <a:t>Assessed sensitivity of sales volumes against regional temperature shifts and weather cycles.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212" y="1937653"/>
            <a:ext cx="25717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7137" y="1987949"/>
            <a:ext cx="22860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6062" y="1970311"/>
            <a:ext cx="200025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96412" y="1981202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1025" y="485775"/>
            <a:ext cx="1158144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8FAFC"/>
                </a:solidFill>
                <a:latin typeface="Space Grotesk"/>
              </a:rPr>
              <a:t>4. Exploratory Analysis in </a:t>
            </a:r>
            <a:r>
              <a:rPr sz="2400" b="1" i="0" u="none" dirty="0">
                <a:solidFill>
                  <a:srgbClr val="38BDF8"/>
                </a:solidFill>
                <a:latin typeface="Space Grotesk"/>
              </a:rPr>
              <a:t>Quiver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47925"/>
            <a:ext cx="5324475" cy="320176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47925"/>
            <a:ext cx="5324475" cy="3201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755999"/>
            <a:ext cx="459057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>
                <a:solidFill>
                  <a:srgbClr val="38BDF8"/>
                </a:solidFill>
                <a:latin typeface="Space Grotesk"/>
              </a:rPr>
              <a:t>Interactive Visual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209925"/>
            <a:ext cx="4695825" cy="1164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• Built comprehensive charts visualizing longitudinal weekly sales trajectories and seasonal peaks.</a:t>
            </a:r>
            <a:endParaRPr lang="en-US" sz="2000" b="0" i="0" u="none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1800"/>
              </a:lnSpc>
            </a:pPr>
            <a:endParaRPr lang="en-US" sz="2000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1800"/>
              </a:lnSpc>
            </a:pPr>
            <a:endParaRPr sz="2000" b="0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5350" y="3976682"/>
            <a:ext cx="4695825" cy="70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• Formulated comparative store performance views contextualized against markdown and economic drivers.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721136"/>
            <a:ext cx="4695825" cy="47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• Transformed raw datasets into polished, business-ready analytical visual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4675" y="2755999"/>
            <a:ext cx="459057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>
                <a:solidFill>
                  <a:srgbClr val="38BDF8"/>
                </a:solidFill>
                <a:latin typeface="Space Grotesk"/>
              </a:rPr>
              <a:t>Embedded Exploration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209925"/>
            <a:ext cx="4695825" cy="70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>
                <a:solidFill>
                  <a:srgbClr val="CBD5E1"/>
                </a:solidFill>
                <a:latin typeface="Plus Jakarta Sans"/>
              </a:rPr>
              <a:t>• Designed to support continuous ad-hoc exploration rather than rigid, static reporting formats.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976682"/>
            <a:ext cx="4695825" cy="47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• Provides multi-dimensional slicing across store format, timeline, and holiday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4490304"/>
            <a:ext cx="4695825" cy="70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• Serves as the interactive visualization core embedded into the downstream Workshop application.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795587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795587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F8FAFC"/>
                </a:solidFill>
                <a:latin typeface="Space Grotesk"/>
              </a:rPr>
              <a:t>5. Visual Intelligence in </a:t>
            </a:r>
            <a:r>
              <a:rPr sz="2800" b="1" i="0" u="none" dirty="0">
                <a:solidFill>
                  <a:srgbClr val="38BDF8"/>
                </a:solidFill>
                <a:latin typeface="Space Grotesk"/>
              </a:rPr>
              <a:t>Contour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8916"/>
            <a:ext cx="5324475" cy="35995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048916"/>
            <a:ext cx="2566987" cy="19981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8512" y="2048916"/>
            <a:ext cx="2566987" cy="19981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237583"/>
            <a:ext cx="5324475" cy="1285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3787" y="2344191"/>
            <a:ext cx="1976437" cy="56569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4532858"/>
            <a:ext cx="4733925" cy="419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1775" y="2360155"/>
            <a:ext cx="4970621" cy="276999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38BDF8"/>
                </a:solidFill>
                <a:latin typeface="Space Grotesk"/>
              </a:rPr>
              <a:t>Operational Workshop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909887"/>
            <a:ext cx="4733925" cy="464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>
                <a:solidFill>
                  <a:srgbClr val="CBD5E1"/>
                </a:solidFill>
                <a:latin typeface="Plus Jakarta Sans"/>
              </a:rPr>
              <a:t>Dynamic Filtering:</a:t>
            </a:r>
            <a:r>
              <a:rPr b="0" i="0" u="none">
                <a:solidFill>
                  <a:srgbClr val="CBD5E1"/>
                </a:solidFill>
                <a:latin typeface="Plus Jakarta Sans"/>
              </a:rPr>
              <a:t> Instant slice-and-dice by Store ID, Date Range, and Holiday Flag.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481387"/>
            <a:ext cx="4733925" cy="464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>
                <a:solidFill>
                  <a:srgbClr val="CBD5E1"/>
                </a:solidFill>
                <a:latin typeface="Plus Jakarta Sans"/>
              </a:rPr>
              <a:t>Executive KPI Cards:</a:t>
            </a:r>
            <a:r>
              <a:rPr b="0" i="0" u="none">
                <a:solidFill>
                  <a:srgbClr val="CBD5E1"/>
                </a:solidFill>
                <a:latin typeface="Plus Jakarta Sans"/>
              </a:rPr>
              <a:t> Real-time visibility into Total Sales and Average Weekly Sales.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4052887"/>
            <a:ext cx="4733925" cy="695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>
                <a:solidFill>
                  <a:srgbClr val="CBD5E1"/>
                </a:solidFill>
                <a:latin typeface="Plus Jakarta Sans"/>
              </a:rPr>
              <a:t>Guided Drill-Downs:</a:t>
            </a:r>
            <a:r>
              <a:rPr b="0" i="0" u="none">
                <a:solidFill>
                  <a:srgbClr val="CBD5E1"/>
                </a:solidFill>
                <a:latin typeface="Plus Jakarta Sans"/>
              </a:rPr>
              <a:t> Allows end-users to move seamlessly from macro metrics to departmental roots.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4814174"/>
            <a:ext cx="4733925" cy="695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 dirty="0">
                <a:solidFill>
                  <a:srgbClr val="CBD5E1"/>
                </a:solidFill>
                <a:latin typeface="Plus Jakarta Sans"/>
              </a:rPr>
              <a:t>Published &amp; Governed:</a:t>
            </a:r>
            <a:r>
              <a:rPr b="0" i="0" u="none" dirty="0">
                <a:solidFill>
                  <a:srgbClr val="CBD5E1"/>
                </a:solidFill>
                <a:latin typeface="Plus Jakarta Sans"/>
              </a:rPr>
              <a:t> Fully validated, permissioned, and deployed for business stakeholders.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429000"/>
            <a:ext cx="197643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F1F5F9"/>
                </a:solidFill>
                <a:latin typeface="Plus Jakarta Sans SemiBold"/>
              </a:rPr>
              <a:t>Top Performing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3787" y="2986087"/>
            <a:ext cx="197643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F1F5F9"/>
                </a:solidFill>
                <a:latin typeface="Plus Jakarta Sans SemiBold"/>
              </a:rPr>
              <a:t>Interactive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028158"/>
            <a:ext cx="473392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F1F5F9"/>
                </a:solidFill>
                <a:latin typeface="Plus Jakarta Sans SemiBold"/>
              </a:rPr>
              <a:t>Embedded Analytics &amp; Visuals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2421388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F8FAFC"/>
                </a:solidFill>
                <a:latin typeface="Space Grotesk"/>
              </a:rPr>
              <a:t>5</a:t>
            </a:r>
            <a:r>
              <a:rPr sz="2400" b="1" i="0" u="none" dirty="0">
                <a:solidFill>
                  <a:srgbClr val="F8FAFC"/>
                </a:solidFill>
                <a:latin typeface="Space Grotesk"/>
              </a:rPr>
              <a:t>. Workshop </a:t>
            </a:r>
            <a:r>
              <a:rPr sz="2400" b="1" i="0" u="none" dirty="0">
                <a:solidFill>
                  <a:srgbClr val="38BDF8"/>
                </a:solidFill>
                <a:latin typeface="Space Grotesk"/>
              </a:rPr>
              <a:t>Application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17D4F7-C2E7-513F-2CD1-31D7DE97614D}"/>
              </a:ext>
            </a:extLst>
          </p:cNvPr>
          <p:cNvSpPr txBox="1"/>
          <p:nvPr/>
        </p:nvSpPr>
        <p:spPr>
          <a:xfrm>
            <a:off x="876300" y="2342955"/>
            <a:ext cx="18811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T Sectra Fine Md" panose="00000600000000000000" pitchFamily="2" charset="0"/>
              </a:rPr>
              <a:t>      	</a:t>
            </a:r>
            <a:r>
              <a:rPr lang="en-US" sz="2800" dirty="0">
                <a:solidFill>
                  <a:schemeClr val="bg1"/>
                </a:solidFill>
                <a:latin typeface="GT Sectra Fine Md" panose="00000600000000000000" pitchFamily="2" charset="0"/>
              </a:rPr>
              <a:t>Store </a:t>
            </a:r>
          </a:p>
          <a:p>
            <a:r>
              <a:rPr lang="en-US" sz="2800" dirty="0">
                <a:solidFill>
                  <a:schemeClr val="bg1"/>
                </a:solidFill>
                <a:latin typeface="GT Sectra Fine Md" panose="00000600000000000000" pitchFamily="2" charset="0"/>
              </a:rPr>
              <a:t>       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3771900"/>
            <a:ext cx="11029950" cy="2857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539665" y="4071937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 dirty="0">
                <a:solidFill>
                  <a:srgbClr val="38BDF8"/>
                </a:solidFill>
                <a:latin typeface="Space Grotesk"/>
              </a:rPr>
              <a:t>1. Ingest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329112"/>
            <a:ext cx="1654373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Load Sales, Stores &amp; Features source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4751" y="2921496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38BDF8"/>
                </a:solidFill>
                <a:latin typeface="Space Grotesk"/>
              </a:rPr>
              <a:t>2.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6110" y="3178671"/>
            <a:ext cx="1654373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>
                <a:solidFill>
                  <a:srgbClr val="94A3B8"/>
                </a:solidFill>
                <a:latin typeface="Plus Jakarta Sans"/>
              </a:rPr>
              <a:t>Clean, profile &amp; standardize pipelines.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9836" y="4071937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38BDF8"/>
                </a:solidFill>
                <a:latin typeface="Space Grotesk"/>
              </a:rPr>
              <a:t>3.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196" y="4329112"/>
            <a:ext cx="1654373" cy="505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>
                <a:solidFill>
                  <a:srgbClr val="94A3B8"/>
                </a:solidFill>
                <a:latin typeface="Plus Jakarta Sans"/>
              </a:rPr>
              <a:t>Create Ontology objects &amp; semantic links.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4922" y="2921496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38BDF8"/>
                </a:solidFill>
                <a:latin typeface="Space Grotesk"/>
              </a:rPr>
              <a:t>4. 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6281" y="3178671"/>
            <a:ext cx="1654373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>
                <a:solidFill>
                  <a:srgbClr val="94A3B8"/>
                </a:solidFill>
                <a:latin typeface="Plus Jakarta Sans"/>
              </a:rPr>
              <a:t>Deep-dive exploration in Quiver Canvas.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0007" y="4071937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38BDF8"/>
                </a:solidFill>
                <a:latin typeface="Space Grotesk"/>
              </a:rPr>
              <a:t>5. Visualize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1367" y="4329112"/>
            <a:ext cx="1654373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>
                <a:solidFill>
                  <a:srgbClr val="94A3B8"/>
                </a:solidFill>
                <a:latin typeface="Plus Jakarta Sans"/>
              </a:rPr>
              <a:t>Contour charts &amp; trend paths.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5093" y="2921496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38BDF8"/>
                </a:solidFill>
                <a:latin typeface="Space Grotesk"/>
              </a:rPr>
              <a:t>6. 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56452" y="3178671"/>
            <a:ext cx="1654373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>
                <a:solidFill>
                  <a:srgbClr val="94A3B8"/>
                </a:solidFill>
                <a:latin typeface="Plus Jakarta Sans"/>
              </a:rPr>
              <a:t>Interactive Workshop web application.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F8FAFC"/>
                </a:solidFill>
                <a:latin typeface="Space Grotesk"/>
              </a:rPr>
              <a:t>End-to-End </a:t>
            </a:r>
            <a:r>
              <a:rPr sz="2800" b="1" i="0" u="none" dirty="0">
                <a:solidFill>
                  <a:srgbClr val="38BDF8"/>
                </a:solidFill>
                <a:latin typeface="Space Grotesk"/>
              </a:rPr>
              <a:t>Foundry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2486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Rounded Rectangle 17"/>
          <p:cNvSpPr/>
          <p:nvPr/>
        </p:nvSpPr>
        <p:spPr>
          <a:xfrm>
            <a:off x="3197572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5072657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Rounded Rectangle 19"/>
          <p:cNvSpPr/>
          <p:nvPr/>
        </p:nvSpPr>
        <p:spPr>
          <a:xfrm>
            <a:off x="6947743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Rounded Rectangle 20"/>
          <p:cNvSpPr/>
          <p:nvPr/>
        </p:nvSpPr>
        <p:spPr>
          <a:xfrm>
            <a:off x="8822828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2" name="Rounded Rectangle 21"/>
          <p:cNvSpPr/>
          <p:nvPr/>
        </p:nvSpPr>
        <p:spPr>
          <a:xfrm>
            <a:off x="10697914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347912"/>
            <a:ext cx="11029950" cy="857250"/>
          </a:xfrm>
          <a:prstGeom prst="roundRect">
            <a:avLst>
              <a:gd name="adj" fmla="val 11111"/>
            </a:avLst>
          </a:prstGeom>
          <a:solidFill>
            <a:srgbClr val="131D33"/>
          </a:solidFill>
          <a:ln w="9525">
            <a:solidFill>
              <a:srgbClr val="23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2525" y="2538412"/>
            <a:ext cx="102298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Plus Jakarta Sans"/>
              </a:rPr>
              <a:t>1. Presentation Deck: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Comprehensive deck summarizing demonstrated Foundry capabilities across pipeline creation, semantic modeling, exploratory analysis, and application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3357562"/>
            <a:ext cx="11029950" cy="857250"/>
          </a:xfrm>
          <a:prstGeom prst="roundRect">
            <a:avLst>
              <a:gd name="adj" fmla="val 11111"/>
            </a:avLst>
          </a:prstGeom>
          <a:solidFill>
            <a:srgbClr val="131D33"/>
          </a:solidFill>
          <a:ln w="9525">
            <a:solidFill>
              <a:srgbClr val="23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525" y="3548062"/>
            <a:ext cx="102298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Plus Jakarta Sans"/>
              </a:rPr>
              <a:t>2. Case Study Documentation: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Complete technical document outlining end-to-end methodologies, field mappings, transformation rules, and business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4367212"/>
            <a:ext cx="11029950" cy="857250"/>
          </a:xfrm>
          <a:prstGeom prst="roundRect">
            <a:avLst>
              <a:gd name="adj" fmla="val 11111"/>
            </a:avLst>
          </a:prstGeom>
          <a:solidFill>
            <a:srgbClr val="131D33"/>
          </a:solidFill>
          <a:ln w="9525">
            <a:solidFill>
              <a:srgbClr val="23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525" y="4557712"/>
            <a:ext cx="102298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Plus Jakarta Sans"/>
              </a:rPr>
              <a:t>3. Visual Artifacts &amp; Evidence: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Verified screenshots of the Data Pipeline, Ontology Object Model, Quiver Canvas, Contour Dashboard, and Published Workshop Application.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3195637"/>
            <a:ext cx="1102995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4205287"/>
            <a:ext cx="1102995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5214937"/>
            <a:ext cx="1102995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562225"/>
            <a:ext cx="1428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571875"/>
            <a:ext cx="1428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581525"/>
            <a:ext cx="219075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Case Study </a:t>
            </a:r>
            <a:r>
              <a:rPr sz="2550" b="1" i="0" u="none">
                <a:solidFill>
                  <a:srgbClr val="38BDF8"/>
                </a:solidFill>
                <a:latin typeface="Space Grotesk"/>
              </a:rPr>
              <a:t>Deliverables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12" y="2028825"/>
            <a:ext cx="2390775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5475" y="2562225"/>
            <a:ext cx="84010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Space Grotesk"/>
              </a:rPr>
              <a:t>Retail Dynamics – Exploring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381375"/>
            <a:ext cx="7143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A complete Palantir Foundry implementation connecting data preparation, semantic modeling, exploratory analytics, and interactive decision delivery.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863</Words>
  <Application>Microsoft Office PowerPoint</Application>
  <PresentationFormat>Widescreen</PresentationFormat>
  <Paragraphs>120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GT Sectra Fine Md</vt:lpstr>
      <vt:lpstr>Plus Jakarta Sans</vt:lpstr>
      <vt:lpstr>Plus Jakarta Sans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Rokade, Pratik R.</dc:creator>
  <cp:keywords/>
  <dc:description>generated using python-pptx</dc:description>
  <cp:lastModifiedBy>Rokade, Pratik R.</cp:lastModifiedBy>
  <cp:revision>4</cp:revision>
  <dcterms:created xsi:type="dcterms:W3CDTF">2013-01-27T09:14:16Z</dcterms:created>
  <dcterms:modified xsi:type="dcterms:W3CDTF">2026-08-31T19:19:04Z</dcterms:modified>
  <cp:category/>
</cp:coreProperties>
</file>