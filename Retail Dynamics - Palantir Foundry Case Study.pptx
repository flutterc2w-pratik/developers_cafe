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35D4E-DA1C-4A17-9AF8-3B2D5C6CBA7C}" v="1" dt="2026-08-31T16:04:18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kade, Pratik R." userId="14c8c4fe-ba2a-4dc5-bb4b-90f5bcddc755" providerId="ADAL" clId="{2132BA77-4E5F-43BB-A8B6-E071A848B931}"/>
    <pc:docChg chg="custSel delSld modSld">
      <pc:chgData name="Rokade, Pratik R." userId="14c8c4fe-ba2a-4dc5-bb4b-90f5bcddc755" providerId="ADAL" clId="{2132BA77-4E5F-43BB-A8B6-E071A848B931}" dt="2026-08-31T16:09:04.792" v="144" actId="1076"/>
      <pc:docMkLst>
        <pc:docMk/>
      </pc:docMkLst>
      <pc:sldChg chg="modSp mod">
        <pc:chgData name="Rokade, Pratik R." userId="14c8c4fe-ba2a-4dc5-bb4b-90f5bcddc755" providerId="ADAL" clId="{2132BA77-4E5F-43BB-A8B6-E071A848B931}" dt="2026-08-31T15:58:47.218" v="63" actId="1035"/>
        <pc:sldMkLst>
          <pc:docMk/>
          <pc:sldMk cId="0" sldId="256"/>
        </pc:sldMkLst>
        <pc:picChg chg="mod">
          <ac:chgData name="Rokade, Pratik R." userId="14c8c4fe-ba2a-4dc5-bb4b-90f5bcddc755" providerId="ADAL" clId="{2132BA77-4E5F-43BB-A8B6-E071A848B931}" dt="2026-08-31T15:58:29.514" v="57" actId="1035"/>
          <ac:picMkLst>
            <pc:docMk/>
            <pc:sldMk cId="0" sldId="256"/>
            <ac:picMk id="5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5:58:34.158" v="58" actId="1037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5:58:37.422" v="59" actId="1037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5:58:40.058" v="61" actId="1037"/>
          <ac:picMkLst>
            <pc:docMk/>
            <pc:sldMk cId="0" sldId="256"/>
            <ac:picMk id="8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5:58:47.218" v="63" actId="1035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Rokade, Pratik R." userId="14c8c4fe-ba2a-4dc5-bb4b-90f5bcddc755" providerId="ADAL" clId="{2132BA77-4E5F-43BB-A8B6-E071A848B931}" dt="2026-08-30T17:54:58.997" v="0" actId="255"/>
        <pc:sldMkLst>
          <pc:docMk/>
          <pc:sldMk cId="0" sldId="259"/>
        </pc:sldMkLst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0T17:54:58.997" v="0" actId="255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Rokade, Pratik R." userId="14c8c4fe-ba2a-4dc5-bb4b-90f5bcddc755" providerId="ADAL" clId="{2132BA77-4E5F-43BB-A8B6-E071A848B931}" dt="2026-08-31T16:09:04.792" v="144" actId="1076"/>
        <pc:sldMkLst>
          <pc:docMk/>
          <pc:sldMk cId="0" sldId="262"/>
        </pc:sldMkLst>
        <pc:spChg chg="mod">
          <ac:chgData name="Rokade, Pratik R." userId="14c8c4fe-ba2a-4dc5-bb4b-90f5bcddc755" providerId="ADAL" clId="{2132BA77-4E5F-43BB-A8B6-E071A848B931}" dt="2026-08-31T16:07:53.940" v="134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8:12.249" v="138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8:22.588" v="140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8:18.033" v="13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7:53.940" v="134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7:53.940" v="134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9:04.792" v="14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8:55.591" v="143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8:02.153" v="135" actId="255"/>
          <ac:spMkLst>
            <pc:docMk/>
            <pc:sldMk cId="0" sldId="262"/>
            <ac:spMk id="15" creationId="{00000000-0000-0000-0000-000000000000}"/>
          </ac:spMkLst>
        </pc:spChg>
        <pc:picChg chg="mod">
          <ac:chgData name="Rokade, Pratik R." userId="14c8c4fe-ba2a-4dc5-bb4b-90f5bcddc755" providerId="ADAL" clId="{2132BA77-4E5F-43BB-A8B6-E071A848B931}" dt="2026-08-31T16:08:08.541" v="136" actId="14100"/>
          <ac:picMkLst>
            <pc:docMk/>
            <pc:sldMk cId="0" sldId="262"/>
            <ac:picMk id="3" creationId="{00000000-0000-0000-0000-000000000000}"/>
          </ac:picMkLst>
        </pc:picChg>
        <pc:picChg chg="mod">
          <ac:chgData name="Rokade, Pratik R." userId="14c8c4fe-ba2a-4dc5-bb4b-90f5bcddc755" providerId="ADAL" clId="{2132BA77-4E5F-43BB-A8B6-E071A848B931}" dt="2026-08-31T16:08:30.069" v="141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addSp delSp modSp mod">
        <pc:chgData name="Rokade, Pratik R." userId="14c8c4fe-ba2a-4dc5-bb4b-90f5bcddc755" providerId="ADAL" clId="{2132BA77-4E5F-43BB-A8B6-E071A848B931}" dt="2026-08-31T16:07:35.564" v="133" actId="20577"/>
        <pc:sldMkLst>
          <pc:docMk/>
          <pc:sldMk cId="0" sldId="263"/>
        </pc:sldMkLst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6:52.104" v="128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7:14.193" v="129" actId="255"/>
          <ac:spMkLst>
            <pc:docMk/>
            <pc:sldMk cId="0" sldId="263"/>
            <ac:spMk id="19" creationId="{00000000-0000-0000-0000-000000000000}"/>
          </ac:spMkLst>
        </pc:spChg>
        <pc:spChg chg="add mod">
          <ac:chgData name="Rokade, Pratik R." userId="14c8c4fe-ba2a-4dc5-bb4b-90f5bcddc755" providerId="ADAL" clId="{2132BA77-4E5F-43BB-A8B6-E071A848B931}" dt="2026-08-31T16:07:35.564" v="133" actId="20577"/>
          <ac:spMkLst>
            <pc:docMk/>
            <pc:sldMk cId="0" sldId="263"/>
            <ac:spMk id="20" creationId="{E917D4F7-C2E7-513F-2CD1-31D7DE97614D}"/>
          </ac:spMkLst>
        </pc:spChg>
        <pc:picChg chg="del mod">
          <ac:chgData name="Rokade, Pratik R." userId="14c8c4fe-ba2a-4dc5-bb4b-90f5bcddc755" providerId="ADAL" clId="{2132BA77-4E5F-43BB-A8B6-E071A848B931}" dt="2026-08-31T16:04:08.538" v="78" actId="478"/>
          <ac:picMkLst>
            <pc:docMk/>
            <pc:sldMk cId="0" sldId="263"/>
            <ac:picMk id="7" creationId="{00000000-0000-0000-0000-000000000000}"/>
          </ac:picMkLst>
        </pc:picChg>
      </pc:sldChg>
      <pc:sldChg chg="modSp mod">
        <pc:chgData name="Rokade, Pratik R." userId="14c8c4fe-ba2a-4dc5-bb4b-90f5bcddc755" providerId="ADAL" clId="{2132BA77-4E5F-43BB-A8B6-E071A848B931}" dt="2026-08-31T16:03:25.557" v="75" actId="1076"/>
        <pc:sldMkLst>
          <pc:docMk/>
          <pc:sldMk cId="0" sldId="264"/>
        </pc:sldMkLst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3:12.583" v="74" actId="255"/>
          <ac:spMkLst>
            <pc:docMk/>
            <pc:sldMk cId="0" sldId="264"/>
            <ac:spMk id="16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19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20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okade, Pratik R." userId="14c8c4fe-ba2a-4dc5-bb4b-90f5bcddc755" providerId="ADAL" clId="{2132BA77-4E5F-43BB-A8B6-E071A848B931}" dt="2026-08-31T16:02:51.753" v="73" actId="255"/>
          <ac:spMkLst>
            <pc:docMk/>
            <pc:sldMk cId="0" sldId="264"/>
            <ac:spMk id="22" creationId="{00000000-0000-0000-0000-000000000000}"/>
          </ac:spMkLst>
        </pc:spChg>
        <pc:picChg chg="mod">
          <ac:chgData name="Rokade, Pratik R." userId="14c8c4fe-ba2a-4dc5-bb4b-90f5bcddc755" providerId="ADAL" clId="{2132BA77-4E5F-43BB-A8B6-E071A848B931}" dt="2026-08-31T16:03:25.557" v="75" actId="1076"/>
          <ac:picMkLst>
            <pc:docMk/>
            <pc:sldMk cId="0" sldId="264"/>
            <ac:picMk id="2" creationId="{00000000-0000-0000-0000-000000000000}"/>
          </ac:picMkLst>
        </pc:picChg>
      </pc:sldChg>
      <pc:sldChg chg="delSp modSp mod">
        <pc:chgData name="Rokade, Pratik R." userId="14c8c4fe-ba2a-4dc5-bb4b-90f5bcddc755" providerId="ADAL" clId="{2132BA77-4E5F-43BB-A8B6-E071A848B931}" dt="2026-08-31T16:01:34.503" v="65" actId="478"/>
        <pc:sldMkLst>
          <pc:docMk/>
          <pc:sldMk cId="0" sldId="266"/>
        </pc:sldMkLst>
        <pc:picChg chg="del mod">
          <ac:chgData name="Rokade, Pratik R." userId="14c8c4fe-ba2a-4dc5-bb4b-90f5bcddc755" providerId="ADAL" clId="{2132BA77-4E5F-43BB-A8B6-E071A848B931}" dt="2026-08-31T16:01:29.565" v="64" actId="478"/>
          <ac:picMkLst>
            <pc:docMk/>
            <pc:sldMk cId="0" sldId="266"/>
            <ac:picMk id="4" creationId="{00000000-0000-0000-0000-000000000000}"/>
          </ac:picMkLst>
        </pc:picChg>
        <pc:picChg chg="del">
          <ac:chgData name="Rokade, Pratik R." userId="14c8c4fe-ba2a-4dc5-bb4b-90f5bcddc755" providerId="ADAL" clId="{2132BA77-4E5F-43BB-A8B6-E071A848B931}" dt="2026-08-31T16:01:34.503" v="65" actId="478"/>
          <ac:picMkLst>
            <pc:docMk/>
            <pc:sldMk cId="0" sldId="266"/>
            <ac:picMk id="7" creationId="{00000000-0000-0000-0000-000000000000}"/>
          </ac:picMkLst>
        </pc:picChg>
      </pc:sldChg>
      <pc:sldChg chg="delSp modSp del mod">
        <pc:chgData name="Rokade, Pratik R." userId="14c8c4fe-ba2a-4dc5-bb4b-90f5bcddc755" providerId="ADAL" clId="{2132BA77-4E5F-43BB-A8B6-E071A848B931}" dt="2026-08-30T17:56:02.240" v="45" actId="47"/>
        <pc:sldMkLst>
          <pc:docMk/>
          <pc:sldMk cId="0" sldId="267"/>
        </pc:sldMkLst>
        <pc:spChg chg="del">
          <ac:chgData name="Rokade, Pratik R." userId="14c8c4fe-ba2a-4dc5-bb4b-90f5bcddc755" providerId="ADAL" clId="{2132BA77-4E5F-43BB-A8B6-E071A848B931}" dt="2026-08-30T17:55:45.742" v="2" actId="478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Rokade, Pratik R." userId="14c8c4fe-ba2a-4dc5-bb4b-90f5bcddc755" providerId="ADAL" clId="{2132BA77-4E5F-43BB-A8B6-E071A848B931}" dt="2026-08-30T17:55:59.457" v="42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Rokade, Pratik R." userId="14c8c4fe-ba2a-4dc5-bb4b-90f5bcddc755" providerId="ADAL" clId="{2132BA77-4E5F-43BB-A8B6-E071A848B931}" dt="2026-08-30T17:55:59.457" v="44"/>
          <ac:spMkLst>
            <pc:docMk/>
            <pc:sldMk cId="0" sldId="267"/>
            <ac:spMk id="6" creationId="{00000000-0000-0000-0000-000000000000}"/>
          </ac:spMkLst>
        </pc:spChg>
        <pc:picChg chg="del">
          <ac:chgData name="Rokade, Pratik R." userId="14c8c4fe-ba2a-4dc5-bb4b-90f5bcddc755" providerId="ADAL" clId="{2132BA77-4E5F-43BB-A8B6-E071A848B931}" dt="2026-08-30T17:55:37.038" v="1" actId="478"/>
          <ac:picMkLst>
            <pc:docMk/>
            <pc:sldMk cId="0" sldId="267"/>
            <ac:picMk id="2" creationId="{00000000-0000-0000-0000-000000000000}"/>
          </ac:picMkLst>
        </pc:picChg>
        <pc:picChg chg="del">
          <ac:chgData name="Rokade, Pratik R." userId="14c8c4fe-ba2a-4dc5-bb4b-90f5bcddc755" providerId="ADAL" clId="{2132BA77-4E5F-43BB-A8B6-E071A848B931}" dt="2026-08-30T17:55:48.620" v="3" actId="478"/>
          <ac:picMkLst>
            <pc:docMk/>
            <pc:sldMk cId="0" sldId="267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DD20B-0FB0-432E-8325-7A1B3802B07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0BF83-3D4E-4F5C-8AFB-A31AF11B3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7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0BF83-3D4E-4F5C-8AFB-A31AF11B3B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6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106" y="870421"/>
            <a:ext cx="2871787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71" y="4288041"/>
            <a:ext cx="1391719" cy="3855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803" y="4285396"/>
            <a:ext cx="1702731" cy="38552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777" y="4336107"/>
            <a:ext cx="14954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223" y="4319318"/>
            <a:ext cx="1081089" cy="38552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3922" y="4348727"/>
            <a:ext cx="104775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5999" y="4309393"/>
            <a:ext cx="1279097" cy="371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1563" y="1508596"/>
            <a:ext cx="8585972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 dirty="0">
                <a:solidFill>
                  <a:srgbClr val="FFFFFF"/>
                </a:solidFill>
                <a:latin typeface="Space Grotesk"/>
              </a:rPr>
              <a:t>Retail Dynamics – </a:t>
            </a:r>
            <a:r>
              <a:rPr sz="4350" b="1" i="0" u="none" dirty="0">
                <a:solidFill>
                  <a:srgbClr val="CBD5E1"/>
                </a:solidFill>
                <a:latin typeface="Space Grotesk"/>
              </a:rPr>
              <a:t>Exploring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1687" y="2650539"/>
            <a:ext cx="80962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 dirty="0">
                <a:solidFill>
                  <a:srgbClr val="94A3B8"/>
                </a:solidFill>
                <a:latin typeface="Plus Jakarta Sans"/>
              </a:rPr>
              <a:t>An end-to-end analytical workflow turning raw retail data into governed Ontology models, deep investigative analytics, and executive business applications.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899" y="4393257"/>
            <a:ext cx="161926" cy="18891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1416" y="4376924"/>
            <a:ext cx="295957" cy="230189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6946" y="4400282"/>
            <a:ext cx="214550" cy="214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1685" y="4399449"/>
            <a:ext cx="241458" cy="24145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5116" y="4409776"/>
            <a:ext cx="220803" cy="220803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9546" y="4398696"/>
            <a:ext cx="223878" cy="195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19375"/>
            <a:ext cx="5324475" cy="981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52850"/>
            <a:ext cx="5324475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886324"/>
            <a:ext cx="5324475" cy="981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559069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8FAFC"/>
                </a:solidFill>
                <a:latin typeface="Space Grotesk"/>
              </a:rPr>
              <a:t>Case Study </a:t>
            </a:r>
            <a:r>
              <a:rPr sz="1600" b="1" i="0" u="none">
                <a:solidFill>
                  <a:srgbClr val="38BDF8"/>
                </a:solidFill>
                <a:latin typeface="Space Grotesk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1705570"/>
            <a:ext cx="5370671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CBD5E1"/>
                </a:solidFill>
                <a:latin typeface="Plus Jakarta Sans"/>
              </a:rPr>
              <a:t>Primary Objective: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Build a governed sales analytics pipeline to explore store performance and deliver actionable retail decision intelligence.</a:t>
            </a:r>
            <a:endParaRPr lang="en-US" sz="160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endParaRPr sz="160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781300"/>
            <a:ext cx="5170646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Space Grotesk"/>
              </a:rPr>
              <a:t>Analytical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038475"/>
            <a:ext cx="49244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Powered by Stores, Features, and Sales datasets structured for high-performance downstream querying.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914775"/>
            <a:ext cx="5170646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Space Grotesk"/>
              </a:rPr>
              <a:t>Exploration &amp;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171950"/>
            <a:ext cx="49244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Quiver for multi-dimensional deep dives and Contour for interactive time-series dashboards.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5048250"/>
            <a:ext cx="5170646" cy="246221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38BDF8"/>
                </a:solidFill>
                <a:latin typeface="Space Grotesk"/>
              </a:rPr>
              <a:t>Final Business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5305425"/>
            <a:ext cx="4924425" cy="413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A unified Foundry Workshop web app for operational decision makers.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00350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933825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067300"/>
            <a:ext cx="152400" cy="152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617B7F-E8E7-8840-8F41-EE56F5450D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060" y="2386012"/>
            <a:ext cx="5206840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93131"/>
            <a:ext cx="3524250" cy="31861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193131"/>
            <a:ext cx="3524250" cy="3186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193131"/>
            <a:ext cx="3524250" cy="3186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69356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155156"/>
            <a:ext cx="320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Sales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51710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94A3B8"/>
                </a:solidFill>
                <a:latin typeface="Plus Jakarta Sans"/>
              </a:rPr>
              <a:t>Primary fact table containing granular historical retail transactions across store departments.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469356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155156"/>
            <a:ext cx="320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Stores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17106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Store-level dimension table providing operational attributes and categorization.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46935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3155156"/>
            <a:ext cx="3200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Features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517106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Contextual dataset supplying external economic and environmental market drivers.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602706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4274343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Weekly sales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550568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Store ID &amp; Department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826793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Date &amp; holiday indicators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775" y="2602706"/>
            <a:ext cx="28575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43450" y="4060031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Store identification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450" y="4336256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Store type classifications (A, B, 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3450" y="4612481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Store physical size metrics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25" y="2602706"/>
            <a:ext cx="28575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96300" y="4060031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Regional temperature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300" y="4336256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Fuel price fluctuations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6300" y="4612481"/>
            <a:ext cx="287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Promotional markdowns (1 to 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4274343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455056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4826793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06003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33625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61248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4850" y="406003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4850" y="433625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4850" y="461248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1. Data Ingestion &amp; </a:t>
            </a:r>
            <a:r>
              <a:rPr sz="2550" b="1" i="0" u="none">
                <a:solidFill>
                  <a:srgbClr val="38BDF8"/>
                </a:solidFill>
                <a:latin typeface="Space Grotesk"/>
              </a:rPr>
              <a:t>Preparation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103018"/>
            <a:ext cx="11029950" cy="436017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600" b="0" i="0" u="none">
                <a:solidFill>
                  <a:srgbClr val="94A3B8"/>
                </a:solidFill>
                <a:latin typeface="Plus Jakarta Sans"/>
              </a:rPr>
              <a:t>All pipelines established standardized data types, removed unwanted artifacts, and ensured reliable lineage before semantic publication.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55043"/>
          <a:ext cx="11020423" cy="261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7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2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Source 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Transformation Stage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Cleansed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Target Ontology 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Sales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(Raw)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 profiling, type alignment, null checks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Sales_cleansed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CleansedSales_Obj_CS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Stores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(Raw)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Attribute validation, deduplication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Stores_cleansed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CleansedStores_Obj_CS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Features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(Raw)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Missing value imputation, column cleanup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Features_cleansed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CleansedFeature_Obj_CS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141118"/>
            <a:ext cx="142875" cy="142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5787" y="2831306"/>
            <a:ext cx="198908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ectangle 6"/>
          <p:cNvSpPr/>
          <p:nvPr/>
        </p:nvSpPr>
        <p:spPr>
          <a:xfrm>
            <a:off x="2574875" y="2831306"/>
            <a:ext cx="3701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ectangle 7"/>
          <p:cNvSpPr/>
          <p:nvPr/>
        </p:nvSpPr>
        <p:spPr>
          <a:xfrm>
            <a:off x="6275933" y="2831306"/>
            <a:ext cx="248766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ectangle 8"/>
          <p:cNvSpPr/>
          <p:nvPr/>
        </p:nvSpPr>
        <p:spPr>
          <a:xfrm>
            <a:off x="8763595" y="2831306"/>
            <a:ext cx="284261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585787" y="3507581"/>
            <a:ext cx="198908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2574875" y="3507581"/>
            <a:ext cx="3701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6275933" y="3507581"/>
            <a:ext cx="248766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Rectangle 12"/>
          <p:cNvSpPr/>
          <p:nvPr/>
        </p:nvSpPr>
        <p:spPr>
          <a:xfrm>
            <a:off x="8763595" y="3507581"/>
            <a:ext cx="284261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585787" y="4183856"/>
            <a:ext cx="198908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2574875" y="4183856"/>
            <a:ext cx="370105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6275933" y="4183856"/>
            <a:ext cx="2487662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763595" y="4183856"/>
            <a:ext cx="2842617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933" y="3017043"/>
            <a:ext cx="1489918" cy="323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933" y="3709987"/>
            <a:ext cx="1581447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932" y="4369593"/>
            <a:ext cx="1764357" cy="3238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1025" y="485775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8FAFC"/>
                </a:solidFill>
                <a:latin typeface="Space Grotesk"/>
              </a:rPr>
              <a:t>2. Pipeline Creation &amp; </a:t>
            </a:r>
            <a:r>
              <a:rPr sz="1600" b="1" i="0" u="none">
                <a:solidFill>
                  <a:srgbClr val="38BDF8"/>
                </a:solidFill>
                <a:latin typeface="Space Grotesk"/>
              </a:rPr>
              <a:t>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76475"/>
            <a:ext cx="5324475" cy="3019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76475"/>
            <a:ext cx="5324475" cy="3019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2590800"/>
            <a:ext cx="4530566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Semantic Object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03847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Transforming Raw Data into Real-World Concepts: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381375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Cleansed Sales Object: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Captures transactional performance with Store ID, Date, Department, and Weekly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952875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Cleansed Stores Object: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Enriches sales metrics with store type and capacity parameters for group comparisons.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524375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Cleansed Features Object: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Integrates macroeconomic variables like temperature, CPI, and fuel pricing.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1825" y="2590800"/>
            <a:ext cx="4530566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Relational Linking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038475"/>
            <a:ext cx="4695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Connected Enterprise Intelligence: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381375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Primary Keys &amp; Titles: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Defined unique identifiers to ensure deterministic object resolution across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952875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Cross-Object Links: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Connected Sales to Stores and Features via compound keys (Store ID + Date).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4524375"/>
            <a:ext cx="46958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>
                <a:solidFill>
                  <a:srgbClr val="CBD5E1"/>
                </a:solidFill>
                <a:latin typeface="Plus Jakarta Sans"/>
              </a:rPr>
              <a:t>Governed Access: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Enables analysts to query business entities directly without writing complex SQL joins.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624137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624137"/>
            <a:ext cx="2857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3. Ontology &amp; </a:t>
            </a:r>
            <a:r>
              <a:rPr sz="2550" b="1" i="0" u="none">
                <a:solidFill>
                  <a:srgbClr val="38BDF8"/>
                </a:solidFill>
                <a:latin typeface="Space Grotesk"/>
              </a:rPr>
              <a:t>Business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05025"/>
            <a:ext cx="2586037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62" y="2105025"/>
            <a:ext cx="2586037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105025"/>
            <a:ext cx="2586037" cy="2457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937" y="2105025"/>
            <a:ext cx="2586037" cy="2457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014912"/>
            <a:ext cx="1428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99" y="4972050"/>
            <a:ext cx="103727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F1F5F9"/>
                </a:solidFill>
                <a:latin typeface="Plus Jakarta Sans"/>
              </a:rPr>
              <a:t>Key Finding:</a:t>
            </a:r>
            <a:r>
              <a:rPr sz="1125" b="0" i="0" u="none" dirty="0">
                <a:solidFill>
                  <a:srgbClr val="F1F5F9"/>
                </a:solidFill>
                <a:latin typeface="Plus Jakarta Sans"/>
              </a:rPr>
              <a:t> Dynamic Quiver Canvas analysis highlighted </a:t>
            </a:r>
            <a:r>
              <a:rPr sz="1125" b="1" i="0" u="none" dirty="0">
                <a:solidFill>
                  <a:srgbClr val="F1F5F9"/>
                </a:solidFill>
                <a:latin typeface="Plus Jakarta Sans"/>
              </a:rPr>
              <a:t>Store 10</a:t>
            </a:r>
            <a:r>
              <a:rPr sz="1125" b="0" i="0" u="none" dirty="0">
                <a:solidFill>
                  <a:srgbClr val="F1F5F9"/>
                </a:solidFill>
                <a:latin typeface="Plus Jakarta Sans"/>
              </a:rPr>
              <a:t> as the consistently highest-performing retail location across configured sales metrics.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38125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" y="3067050"/>
            <a:ext cx="221527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1. Top 5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429000"/>
            <a:ext cx="210978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Identified stores exhibiting the highest average Weekly Sales across all reporting periods.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3787" y="2381250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33787" y="3067050"/>
            <a:ext cx="221527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2. Type vs Fuel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3787" y="3429000"/>
            <a:ext cx="210978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Analyzed relationship between store classification types and regional fuel price variations.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381250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8425" y="3067050"/>
            <a:ext cx="221527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3. Holiday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429000"/>
            <a:ext cx="21097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Evaluated departmental revenue spikes during standard weeks versus designated holiday periods.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3062" y="2381250"/>
            <a:ext cx="495300" cy="495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63062" y="3067050"/>
            <a:ext cx="221527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4. Temp vs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3062" y="3429000"/>
            <a:ext cx="210978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Assessed sensitivity of sales volumes against regional temperature shifts and weather cycles.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212" y="2514600"/>
            <a:ext cx="2571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67137" y="2514600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6062" y="2514600"/>
            <a:ext cx="20002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96412" y="2514600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4. Exploratory Analysis in </a:t>
            </a:r>
            <a:r>
              <a:rPr sz="2550" b="1" i="0" u="none">
                <a:solidFill>
                  <a:srgbClr val="38BDF8"/>
                </a:solidFill>
                <a:latin typeface="Space Grotesk"/>
              </a:rPr>
              <a:t>Quiver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47925"/>
            <a:ext cx="5324475" cy="320176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47925"/>
            <a:ext cx="5324475" cy="3201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55999"/>
            <a:ext cx="459057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38BDF8"/>
                </a:solidFill>
                <a:latin typeface="Space Grotesk"/>
              </a:rPr>
              <a:t>Interactive Visual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209925"/>
            <a:ext cx="4695825" cy="1164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Built comprehensive charts visualizing longitudinal weekly sales trajectories and seasonal peaks.</a:t>
            </a:r>
            <a:endParaRPr lang="en-US" sz="2000" b="0" i="0" u="none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endParaRPr lang="en-US" sz="2000" dirty="0">
              <a:solidFill>
                <a:srgbClr val="CBD5E1"/>
              </a:solidFill>
              <a:latin typeface="Plus Jakarta Sans"/>
            </a:endParaRPr>
          </a:p>
          <a:p>
            <a:pPr algn="l">
              <a:lnSpc>
                <a:spcPts val="1800"/>
              </a:lnSpc>
            </a:pPr>
            <a:endParaRPr sz="2000" b="0" i="0" u="none" dirty="0">
              <a:solidFill>
                <a:srgbClr val="CBD5E1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5350" y="3976682"/>
            <a:ext cx="4695825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Formulated comparative store performance views contextualized against markdown and economic drivers.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721136"/>
            <a:ext cx="4695825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Transformed raw datasets into polished, business-ready analytical visual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4675" y="2755999"/>
            <a:ext cx="459057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>
                <a:solidFill>
                  <a:srgbClr val="38BDF8"/>
                </a:solidFill>
                <a:latin typeface="Space Grotesk"/>
              </a:rPr>
              <a:t>Embedded Exploration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209925"/>
            <a:ext cx="4695825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CBD5E1"/>
                </a:solidFill>
                <a:latin typeface="Plus Jakarta Sans"/>
              </a:rPr>
              <a:t>• Designed to support continuous ad-hoc exploration rather than rigid, static reporting formats.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976682"/>
            <a:ext cx="4695825" cy="471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Provides multi-dimensional slicing across store format, timeline, and holiday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490304"/>
            <a:ext cx="4695825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CBD5E1"/>
                </a:solidFill>
                <a:latin typeface="Plus Jakarta Sans"/>
              </a:rPr>
              <a:t>• Serves as the interactive visualization core embedded into the downstream Workshop application.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795587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795587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8FAFC"/>
                </a:solidFill>
                <a:latin typeface="Space Grotesk"/>
              </a:rPr>
              <a:t>5. Visual Intelligence in </a:t>
            </a:r>
            <a:r>
              <a:rPr sz="2800" b="1" i="0" u="none" dirty="0">
                <a:solidFill>
                  <a:srgbClr val="38BDF8"/>
                </a:solidFill>
                <a:latin typeface="Space Grotesk"/>
              </a:rPr>
              <a:t>Contour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95512"/>
            <a:ext cx="5324475" cy="3181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48916"/>
            <a:ext cx="2566987" cy="19981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512" y="2048916"/>
            <a:ext cx="2566987" cy="19981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237583"/>
            <a:ext cx="5324475" cy="1285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3787" y="2344191"/>
            <a:ext cx="1976437" cy="56569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532858"/>
            <a:ext cx="4733925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1775" y="2490787"/>
            <a:ext cx="4970621" cy="276999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38BDF8"/>
                </a:solidFill>
                <a:latin typeface="Space Grotesk"/>
              </a:rPr>
              <a:t>Operational Workshop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909887"/>
            <a:ext cx="4733925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Dynamic Filtering: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Instant slice-and-dice by Store ID, Date Range, and Holiday 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481387"/>
            <a:ext cx="4733925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Executive KPI Cards: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Real-time visibility into Total Sales and Average Weekly Sales.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052887"/>
            <a:ext cx="4733925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Guided Drill-Downs: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Allows end-users to move seamlessly from macro metrics to departmental roots.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624387"/>
            <a:ext cx="4733925" cy="695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b="1" i="0" u="none">
                <a:solidFill>
                  <a:srgbClr val="CBD5E1"/>
                </a:solidFill>
                <a:latin typeface="Plus Jakarta Sans"/>
              </a:rPr>
              <a:t>Published &amp; Governed:</a:t>
            </a:r>
            <a:r>
              <a:rPr b="0" i="0" u="none">
                <a:solidFill>
                  <a:srgbClr val="CBD5E1"/>
                </a:solidFill>
                <a:latin typeface="Plus Jakarta Sans"/>
              </a:rPr>
              <a:t> Fully validated, permissioned, and deployed for business stakeholders.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429000"/>
            <a:ext cx="19764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F1F5F9"/>
                </a:solidFill>
                <a:latin typeface="Plus Jakarta Sans SemiBold"/>
              </a:rPr>
              <a:t>Top Performing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3787" y="2986087"/>
            <a:ext cx="19764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F1F5F9"/>
                </a:solidFill>
                <a:latin typeface="Plus Jakarta Sans SemiBold"/>
              </a:rPr>
              <a:t>Interactive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028158"/>
            <a:ext cx="473392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F1F5F9"/>
                </a:solidFill>
                <a:latin typeface="Plus Jakarta Sans SemiBold"/>
              </a:rPr>
              <a:t>Embedded Analytics &amp; Visuals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519362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Space Grotesk"/>
              </a:rPr>
              <a:t>6. Workshop </a:t>
            </a:r>
            <a:r>
              <a:rPr sz="2400" b="1" i="0" u="none" dirty="0">
                <a:solidFill>
                  <a:srgbClr val="38BDF8"/>
                </a:solidFill>
                <a:latin typeface="Space Grotesk"/>
              </a:rPr>
              <a:t>Application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7D4F7-C2E7-513F-2CD1-31D7DE97614D}"/>
              </a:ext>
            </a:extLst>
          </p:cNvPr>
          <p:cNvSpPr txBox="1"/>
          <p:nvPr/>
        </p:nvSpPr>
        <p:spPr>
          <a:xfrm>
            <a:off x="876300" y="2342955"/>
            <a:ext cx="18811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T Sectra Fine Md" panose="00000600000000000000" pitchFamily="2" charset="0"/>
              </a:rPr>
              <a:t>      	</a:t>
            </a:r>
            <a:r>
              <a:rPr lang="en-US" sz="2800" dirty="0">
                <a:solidFill>
                  <a:schemeClr val="bg1"/>
                </a:solidFill>
                <a:latin typeface="GT Sectra Fine Md" panose="00000600000000000000" pitchFamily="2" charset="0"/>
              </a:rPr>
              <a:t>Store </a:t>
            </a:r>
          </a:p>
          <a:p>
            <a:r>
              <a:rPr lang="en-US" sz="2800" dirty="0">
                <a:solidFill>
                  <a:schemeClr val="bg1"/>
                </a:solidFill>
                <a:latin typeface="GT Sectra Fine Md" panose="00000600000000000000" pitchFamily="2" charset="0"/>
              </a:rPr>
              <a:t>      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37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771900"/>
            <a:ext cx="11029950" cy="2857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539665" y="4071937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38BDF8"/>
                </a:solidFill>
                <a:latin typeface="Space Grotesk"/>
              </a:rPr>
              <a:t>1.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329112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 dirty="0">
                <a:solidFill>
                  <a:srgbClr val="94A3B8"/>
                </a:solidFill>
                <a:latin typeface="Plus Jakarta Sans"/>
              </a:rPr>
              <a:t>Load Sales, Stores &amp; Features source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4751" y="2921496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2.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6110" y="3178671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Clean, profile &amp; standardize pipelines.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9836" y="4071937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3.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1196" y="4329112"/>
            <a:ext cx="1654373" cy="505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Create Ontology objects &amp; semantic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4922" y="2921496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4.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6281" y="3178671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Deep-dive exploration in Quiver Canvas.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0007" y="4071937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5. Visualize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1367" y="4329112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Contour charts &amp; trend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5093" y="2921496"/>
            <a:ext cx="173709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38BDF8"/>
                </a:solidFill>
                <a:latin typeface="Space Grotesk"/>
              </a:rPr>
              <a:t>6.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56452" y="3178671"/>
            <a:ext cx="1654373" cy="339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sz="1400" b="0" i="0" u="none">
                <a:solidFill>
                  <a:srgbClr val="94A3B8"/>
                </a:solidFill>
                <a:latin typeface="Plus Jakarta Sans"/>
              </a:rPr>
              <a:t>Interactive Workshop web application.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F8FAFC"/>
                </a:solidFill>
                <a:latin typeface="Space Grotesk"/>
              </a:rPr>
              <a:t>End-to-End </a:t>
            </a:r>
            <a:r>
              <a:rPr sz="2800" b="1" i="0" u="none" dirty="0">
                <a:solidFill>
                  <a:srgbClr val="38BDF8"/>
                </a:solidFill>
                <a:latin typeface="Space Grotesk"/>
              </a:rPr>
              <a:t>Foundry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2486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3197572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5072657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Rounded Rectangle 19"/>
          <p:cNvSpPr/>
          <p:nvPr/>
        </p:nvSpPr>
        <p:spPr>
          <a:xfrm>
            <a:off x="6947743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8822828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Rounded Rectangle 21"/>
          <p:cNvSpPr/>
          <p:nvPr/>
        </p:nvSpPr>
        <p:spPr>
          <a:xfrm>
            <a:off x="1069791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D1527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347912"/>
            <a:ext cx="11029950" cy="857250"/>
          </a:xfrm>
          <a:prstGeom prst="roundRect">
            <a:avLst>
              <a:gd name="adj" fmla="val 11111"/>
            </a:avLst>
          </a:prstGeom>
          <a:solidFill>
            <a:srgbClr val="131D33"/>
          </a:solidFill>
          <a:ln w="9525">
            <a:solidFill>
              <a:srgbClr val="23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2525" y="2538412"/>
            <a:ext cx="1022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1. Presentation Deck: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Comprehensive deck summarizing demonstrated Foundry capabilities across pipeline creation, semantic modeling, exploratory analysis, and application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3357562"/>
            <a:ext cx="11029950" cy="857250"/>
          </a:xfrm>
          <a:prstGeom prst="roundRect">
            <a:avLst>
              <a:gd name="adj" fmla="val 11111"/>
            </a:avLst>
          </a:prstGeom>
          <a:solidFill>
            <a:srgbClr val="131D33"/>
          </a:solidFill>
          <a:ln w="9525">
            <a:solidFill>
              <a:srgbClr val="23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2525" y="3548062"/>
            <a:ext cx="1022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2. Case Study Documentation: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Complete technical document outlining end-to-end methodologies, field mappings, transformation rules, and business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4367212"/>
            <a:ext cx="11029950" cy="857250"/>
          </a:xfrm>
          <a:prstGeom prst="roundRect">
            <a:avLst>
              <a:gd name="adj" fmla="val 11111"/>
            </a:avLst>
          </a:prstGeom>
          <a:solidFill>
            <a:srgbClr val="131D33"/>
          </a:solidFill>
          <a:ln w="9525">
            <a:solidFill>
              <a:srgbClr val="23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525" y="4557712"/>
            <a:ext cx="1022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FFFFF"/>
                </a:solidFill>
                <a:latin typeface="Plus Jakarta Sans"/>
              </a:rPr>
              <a:t>3. Visual Artifacts &amp; Evidence: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Verified screenshots of the Data Pipeline, Ontology Object Model, Quiver Canvas, Contour Dashboard, and Published Workshop Application.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3195637"/>
            <a:ext cx="1102995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205287"/>
            <a:ext cx="1102995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5214937"/>
            <a:ext cx="11029950" cy="9525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562225"/>
            <a:ext cx="1428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571875"/>
            <a:ext cx="1428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581525"/>
            <a:ext cx="21907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Case Study </a:t>
            </a:r>
            <a:r>
              <a:rPr sz="2550" b="1" i="0" u="none">
                <a:solidFill>
                  <a:srgbClr val="38BDF8"/>
                </a:solidFill>
                <a:latin typeface="Space Grotesk"/>
              </a:rPr>
              <a:t>Deliverables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028825"/>
            <a:ext cx="2390775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5475" y="2562225"/>
            <a:ext cx="8401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Space Grotesk"/>
              </a:rPr>
              <a:t>Retail Dynamics – Exploring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381375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A complete Palantir Foundry implementation connecting data preparation, semantic modeling, exploratory analytics, and interactive decision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849</Words>
  <Application>Microsoft Office PowerPoint</Application>
  <PresentationFormat>Widescreen</PresentationFormat>
  <Paragraphs>114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GT Sectra Fine Md</vt:lpstr>
      <vt:lpstr>Plus Jakarta Sans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Rokade, Pratik R.</dc:creator>
  <cp:keywords/>
  <dc:description>generated using python-pptx</dc:description>
  <cp:lastModifiedBy>Rokade, Pratik R.</cp:lastModifiedBy>
  <cp:revision>2</cp:revision>
  <dcterms:created xsi:type="dcterms:W3CDTF">2013-01-27T09:14:16Z</dcterms:created>
  <dcterms:modified xsi:type="dcterms:W3CDTF">2026-08-31T16:09:07Z</dcterms:modified>
  <cp:category/>
</cp:coreProperties>
</file>